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4"/>
  </p:sldMasterIdLst>
  <p:sldIdLst>
    <p:sldId id="257" r:id="rId5"/>
  </p:sldIdLst>
  <p:sldSz cx="9601200" cy="12801600" type="A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06B099F-37AD-4060-8083-851FC7399DCF}" v="493" dt="2025-02-24T11:36:48.57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188"/>
    <p:restoredTop sz="94637"/>
  </p:normalViewPr>
  <p:slideViewPr>
    <p:cSldViewPr snapToGrid="0">
      <p:cViewPr>
        <p:scale>
          <a:sx n="148" d="100"/>
          <a:sy n="148" d="100"/>
        </p:scale>
        <p:origin x="696" y="1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vin Swingler" userId="001c6080-f70b-4cb1-b297-9fe9cede6ac8" providerId="ADAL" clId="{551E86BF-3831-4B7B-9294-523CEAC6E0DE}"/>
    <pc:docChg chg="undo redo custSel addSld modSld">
      <pc:chgData name="Kevin Swingler" userId="001c6080-f70b-4cb1-b297-9fe9cede6ac8" providerId="ADAL" clId="{551E86BF-3831-4B7B-9294-523CEAC6E0DE}" dt="2023-03-03T15:02:52.833" v="2247" actId="20577"/>
      <pc:docMkLst>
        <pc:docMk/>
      </pc:docMkLst>
      <pc:sldChg chg="addSp delSp modSp mod">
        <pc:chgData name="Kevin Swingler" userId="001c6080-f70b-4cb1-b297-9fe9cede6ac8" providerId="ADAL" clId="{551E86BF-3831-4B7B-9294-523CEAC6E0DE}" dt="2023-03-03T14:47:53.073" v="1771" actId="1035"/>
        <pc:sldMkLst>
          <pc:docMk/>
          <pc:sldMk cId="1501710403" sldId="256"/>
        </pc:sldMkLst>
      </pc:sldChg>
      <pc:sldChg chg="addSp delSp modSp add mod">
        <pc:chgData name="Kevin Swingler" userId="001c6080-f70b-4cb1-b297-9fe9cede6ac8" providerId="ADAL" clId="{551E86BF-3831-4B7B-9294-523CEAC6E0DE}" dt="2023-03-03T15:02:52.833" v="2247" actId="20577"/>
        <pc:sldMkLst>
          <pc:docMk/>
          <pc:sldMk cId="16987582" sldId="257"/>
        </pc:sldMkLst>
      </pc:sldChg>
    </pc:docChg>
  </pc:docChgLst>
  <pc:docChgLst>
    <pc:chgData name="Kevin" userId="001c6080-f70b-4cb1-b297-9fe9cede6ac8" providerId="ADAL" clId="{1628BF53-6199-40F3-8C93-D7BBF2F2F5F9}"/>
    <pc:docChg chg="undo custSel addSld modSld">
      <pc:chgData name="Kevin" userId="001c6080-f70b-4cb1-b297-9fe9cede6ac8" providerId="ADAL" clId="{1628BF53-6199-40F3-8C93-D7BBF2F2F5F9}" dt="2023-01-03T10:55:59.469" v="3026" actId="20577"/>
      <pc:docMkLst>
        <pc:docMk/>
      </pc:docMkLst>
      <pc:sldChg chg="addSp delSp modSp new mod">
        <pc:chgData name="Kevin" userId="001c6080-f70b-4cb1-b297-9fe9cede6ac8" providerId="ADAL" clId="{1628BF53-6199-40F3-8C93-D7BBF2F2F5F9}" dt="2023-01-03T10:55:59.469" v="3026" actId="20577"/>
        <pc:sldMkLst>
          <pc:docMk/>
          <pc:sldMk cId="1501710403" sldId="256"/>
        </pc:sldMkLst>
      </pc:sldChg>
    </pc:docChg>
  </pc:docChgLst>
  <pc:docChgLst>
    <pc:chgData name="Sandy Brownlee" userId="S::ab90@stir.ac.uk::2cebf13b-e4a2-47d7-afd7-2a71264552b7" providerId="AD" clId="Web-{506B099F-37AD-4060-8083-851FC7399DCF}"/>
    <pc:docChg chg="modSld">
      <pc:chgData name="Sandy Brownlee" userId="S::ab90@stir.ac.uk::2cebf13b-e4a2-47d7-afd7-2a71264552b7" providerId="AD" clId="Web-{506B099F-37AD-4060-8083-851FC7399DCF}" dt="2025-02-24T11:36:48.578" v="446" actId="20577"/>
      <pc:docMkLst>
        <pc:docMk/>
      </pc:docMkLst>
      <pc:sldChg chg="modSp">
        <pc:chgData name="Sandy Brownlee" userId="S::ab90@stir.ac.uk::2cebf13b-e4a2-47d7-afd7-2a71264552b7" providerId="AD" clId="Web-{506B099F-37AD-4060-8083-851FC7399DCF}" dt="2025-02-24T11:36:48.578" v="446" actId="20577"/>
        <pc:sldMkLst>
          <pc:docMk/>
          <pc:sldMk cId="1501710403" sldId="256"/>
        </pc:sldMkLst>
        <pc:spChg chg="mod">
          <ac:chgData name="Sandy Brownlee" userId="S::ab90@stir.ac.uk::2cebf13b-e4a2-47d7-afd7-2a71264552b7" providerId="AD" clId="Web-{506B099F-37AD-4060-8083-851FC7399DCF}" dt="2025-02-24T11:32:07.552" v="379" actId="20577"/>
          <ac:spMkLst>
            <pc:docMk/>
            <pc:sldMk cId="1501710403" sldId="256"/>
            <ac:spMk id="6" creationId="{8AF6D823-6DA6-9959-0DCB-CCA6AD2DD76E}"/>
          </ac:spMkLst>
        </pc:spChg>
        <pc:spChg chg="mod">
          <ac:chgData name="Sandy Brownlee" userId="S::ab90@stir.ac.uk::2cebf13b-e4a2-47d7-afd7-2a71264552b7" providerId="AD" clId="Web-{506B099F-37AD-4060-8083-851FC7399DCF}" dt="2025-02-24T11:36:48.578" v="446" actId="20577"/>
          <ac:spMkLst>
            <pc:docMk/>
            <pc:sldMk cId="1501710403" sldId="256"/>
            <ac:spMk id="8" creationId="{53F18AD2-7D7C-86A1-617F-5ED4C88C525F}"/>
          </ac:spMkLst>
        </pc:spChg>
        <pc:graphicFrameChg chg="mod">
          <ac:chgData name="Sandy Brownlee" userId="S::ab90@stir.ac.uk::2cebf13b-e4a2-47d7-afd7-2a71264552b7" providerId="AD" clId="Web-{506B099F-37AD-4060-8083-851FC7399DCF}" dt="2025-02-24T11:31:51.052" v="368" actId="1076"/>
          <ac:graphicFrameMkLst>
            <pc:docMk/>
            <pc:sldMk cId="1501710403" sldId="256"/>
            <ac:graphicFrameMk id="2" creationId="{50697821-56EE-B522-2650-CAC52B000E80}"/>
          </ac:graphicFrameMkLst>
        </pc:graphicFrameChg>
        <pc:graphicFrameChg chg="mod modGraphic">
          <ac:chgData name="Sandy Brownlee" userId="S::ab90@stir.ac.uk::2cebf13b-e4a2-47d7-afd7-2a71264552b7" providerId="AD" clId="Web-{506B099F-37AD-4060-8083-851FC7399DCF}" dt="2025-02-24T11:32:03.083" v="376"/>
          <ac:graphicFrameMkLst>
            <pc:docMk/>
            <pc:sldMk cId="1501710403" sldId="256"/>
            <ac:graphicFrameMk id="4" creationId="{5C505450-C5E0-1B5C-6748-4D78433A1E86}"/>
          </ac:graphicFrameMkLst>
        </pc:graphicFrameChg>
      </pc:sldChg>
      <pc:sldChg chg="addSp modSp">
        <pc:chgData name="Sandy Brownlee" userId="S::ab90@stir.ac.uk::2cebf13b-e4a2-47d7-afd7-2a71264552b7" providerId="AD" clId="Web-{506B099F-37AD-4060-8083-851FC7399DCF}" dt="2025-02-24T11:36:22.109" v="436" actId="20577"/>
        <pc:sldMkLst>
          <pc:docMk/>
          <pc:sldMk cId="16987582" sldId="257"/>
        </pc:sldMkLst>
        <pc:spChg chg="add mod">
          <ac:chgData name="Sandy Brownlee" userId="S::ab90@stir.ac.uk::2cebf13b-e4a2-47d7-afd7-2a71264552b7" providerId="AD" clId="Web-{506B099F-37AD-4060-8083-851FC7399DCF}" dt="2025-02-24T11:35:50.139" v="432" actId="20577"/>
          <ac:spMkLst>
            <pc:docMk/>
            <pc:sldMk cId="16987582" sldId="257"/>
            <ac:spMk id="3" creationId="{483CDE9C-72DC-E883-E910-51206EB5A594}"/>
          </ac:spMkLst>
        </pc:spChg>
        <pc:spChg chg="mod">
          <ac:chgData name="Sandy Brownlee" userId="S::ab90@stir.ac.uk::2cebf13b-e4a2-47d7-afd7-2a71264552b7" providerId="AD" clId="Web-{506B099F-37AD-4060-8083-851FC7399DCF}" dt="2025-02-24T11:35:34.232" v="428" actId="20577"/>
          <ac:spMkLst>
            <pc:docMk/>
            <pc:sldMk cId="16987582" sldId="257"/>
            <ac:spMk id="6" creationId="{8AF6D823-6DA6-9959-0DCB-CCA6AD2DD76E}"/>
          </ac:spMkLst>
        </pc:spChg>
        <pc:spChg chg="mod">
          <ac:chgData name="Sandy Brownlee" userId="S::ab90@stir.ac.uk::2cebf13b-e4a2-47d7-afd7-2a71264552b7" providerId="AD" clId="Web-{506B099F-37AD-4060-8083-851FC7399DCF}" dt="2025-02-24T11:36:22.109" v="436" actId="20577"/>
          <ac:spMkLst>
            <pc:docMk/>
            <pc:sldMk cId="16987582" sldId="257"/>
            <ac:spMk id="8" creationId="{53F18AD2-7D7C-86A1-617F-5ED4C88C525F}"/>
          </ac:spMkLst>
        </pc:spChg>
        <pc:spChg chg="mod">
          <ac:chgData name="Sandy Brownlee" userId="S::ab90@stir.ac.uk::2cebf13b-e4a2-47d7-afd7-2a71264552b7" providerId="AD" clId="Web-{506B099F-37AD-4060-8083-851FC7399DCF}" dt="2025-02-24T11:32:21.084" v="381" actId="20577"/>
          <ac:spMkLst>
            <pc:docMk/>
            <pc:sldMk cId="16987582" sldId="257"/>
            <ac:spMk id="9" creationId="{F206284C-0E38-E129-A921-7FCAD4177EEC}"/>
          </ac:spMkLst>
        </pc:spChg>
        <pc:spChg chg="mod">
          <ac:chgData name="Sandy Brownlee" userId="S::ab90@stir.ac.uk::2cebf13b-e4a2-47d7-afd7-2a71264552b7" providerId="AD" clId="Web-{506B099F-37AD-4060-8083-851FC7399DCF}" dt="2025-02-24T11:32:51.913" v="392" actId="14100"/>
          <ac:spMkLst>
            <pc:docMk/>
            <pc:sldMk cId="16987582" sldId="257"/>
            <ac:spMk id="10" creationId="{61114EC5-034B-1ADA-C1F8-62FDCCE2A9A4}"/>
          </ac:spMkLst>
        </pc:spChg>
        <pc:spChg chg="mod">
          <ac:chgData name="Sandy Brownlee" userId="S::ab90@stir.ac.uk::2cebf13b-e4a2-47d7-afd7-2a71264552b7" providerId="AD" clId="Web-{506B099F-37AD-4060-8083-851FC7399DCF}" dt="2025-02-24T11:32:55.726" v="393" actId="14100"/>
          <ac:spMkLst>
            <pc:docMk/>
            <pc:sldMk cId="16987582" sldId="257"/>
            <ac:spMk id="12" creationId="{6DA0385D-A5DD-C169-AF26-24FFB0DB2E30}"/>
          </ac:spMkLst>
        </pc:spChg>
        <pc:spChg chg="mod">
          <ac:chgData name="Sandy Brownlee" userId="S::ab90@stir.ac.uk::2cebf13b-e4a2-47d7-afd7-2a71264552b7" providerId="AD" clId="Web-{506B099F-37AD-4060-8083-851FC7399DCF}" dt="2025-02-24T11:35:00.715" v="418" actId="1076"/>
          <ac:spMkLst>
            <pc:docMk/>
            <pc:sldMk cId="16987582" sldId="257"/>
            <ac:spMk id="13" creationId="{CA1EAAA5-A1A2-3B0D-12F1-60B2E50A677D}"/>
          </ac:spMkLst>
        </pc:spChg>
        <pc:spChg chg="mod">
          <ac:chgData name="Sandy Brownlee" userId="S::ab90@stir.ac.uk::2cebf13b-e4a2-47d7-afd7-2a71264552b7" providerId="AD" clId="Web-{506B099F-37AD-4060-8083-851FC7399DCF}" dt="2025-02-24T11:32:28.366" v="385" actId="20577"/>
          <ac:spMkLst>
            <pc:docMk/>
            <pc:sldMk cId="16987582" sldId="257"/>
            <ac:spMk id="14" creationId="{720648D2-2C2F-D4B7-A939-01723E5AA434}"/>
          </ac:spMkLst>
        </pc:spChg>
        <pc:spChg chg="mod">
          <ac:chgData name="Sandy Brownlee" userId="S::ab90@stir.ac.uk::2cebf13b-e4a2-47d7-afd7-2a71264552b7" providerId="AD" clId="Web-{506B099F-37AD-4060-8083-851FC7399DCF}" dt="2025-02-24T11:33:02.148" v="394" actId="14100"/>
          <ac:spMkLst>
            <pc:docMk/>
            <pc:sldMk cId="16987582" sldId="257"/>
            <ac:spMk id="16" creationId="{303339E9-D30D-6514-92CD-6CDE78311274}"/>
          </ac:spMkLst>
        </pc:spChg>
        <pc:spChg chg="mod ord">
          <ac:chgData name="Sandy Brownlee" userId="S::ab90@stir.ac.uk::2cebf13b-e4a2-47d7-afd7-2a71264552b7" providerId="AD" clId="Web-{506B099F-37AD-4060-8083-851FC7399DCF}" dt="2025-02-24T11:35:05.340" v="419" actId="14100"/>
          <ac:spMkLst>
            <pc:docMk/>
            <pc:sldMk cId="16987582" sldId="257"/>
            <ac:spMk id="18" creationId="{C388C717-AB61-4AA5-0065-CF8334987466}"/>
          </ac:spMkLst>
        </pc:spChg>
        <pc:spChg chg="mod">
          <ac:chgData name="Sandy Brownlee" userId="S::ab90@stir.ac.uk::2cebf13b-e4a2-47d7-afd7-2a71264552b7" providerId="AD" clId="Web-{506B099F-37AD-4060-8083-851FC7399DCF}" dt="2025-02-24T11:35:10.168" v="420" actId="1076"/>
          <ac:spMkLst>
            <pc:docMk/>
            <pc:sldMk cId="16987582" sldId="257"/>
            <ac:spMk id="20" creationId="{5F922132-ED33-E59C-B714-DBB27B5DF6F8}"/>
          </ac:spMkLst>
        </pc:spChg>
        <pc:spChg chg="mod">
          <ac:chgData name="Sandy Brownlee" userId="S::ab90@stir.ac.uk::2cebf13b-e4a2-47d7-afd7-2a71264552b7" providerId="AD" clId="Web-{506B099F-37AD-4060-8083-851FC7399DCF}" dt="2025-02-24T11:35:18.747" v="422" actId="1076"/>
          <ac:spMkLst>
            <pc:docMk/>
            <pc:sldMk cId="16987582" sldId="257"/>
            <ac:spMk id="22" creationId="{A963A857-22CD-BC85-9293-B211890D5A3A}"/>
          </ac:spMkLst>
        </pc:spChg>
        <pc:graphicFrameChg chg="mod">
          <ac:chgData name="Sandy Brownlee" userId="S::ab90@stir.ac.uk::2cebf13b-e4a2-47d7-afd7-2a71264552b7" providerId="AD" clId="Web-{506B099F-37AD-4060-8083-851FC7399DCF}" dt="2025-02-24T11:35:13.825" v="421" actId="1076"/>
          <ac:graphicFrameMkLst>
            <pc:docMk/>
            <pc:sldMk cId="16987582" sldId="257"/>
            <ac:graphicFrameMk id="2" creationId="{50697821-56EE-B522-2650-CAC52B000E80}"/>
          </ac:graphicFrameMkLst>
        </pc:graphicFrameChg>
        <pc:graphicFrameChg chg="mod modGraphic">
          <ac:chgData name="Sandy Brownlee" userId="S::ab90@stir.ac.uk::2cebf13b-e4a2-47d7-afd7-2a71264552b7" providerId="AD" clId="Web-{506B099F-37AD-4060-8083-851FC7399DCF}" dt="2025-02-24T11:34:48.964" v="416"/>
          <ac:graphicFrameMkLst>
            <pc:docMk/>
            <pc:sldMk cId="16987582" sldId="257"/>
            <ac:graphicFrameMk id="7" creationId="{FBE95B7C-B010-6D30-1BB3-D0BB1817071D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0090" y="2095078"/>
            <a:ext cx="8161020" cy="4456853"/>
          </a:xfrm>
        </p:spPr>
        <p:txBody>
          <a:bodyPr anchor="b"/>
          <a:lstStyle>
            <a:lvl1pPr algn="ctr">
              <a:defRPr sz="6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00150" y="6723804"/>
            <a:ext cx="7200900" cy="3090756"/>
          </a:xfrm>
        </p:spPr>
        <p:txBody>
          <a:bodyPr/>
          <a:lstStyle>
            <a:lvl1pPr marL="0" indent="0" algn="ctr">
              <a:buNone/>
              <a:defRPr sz="2520"/>
            </a:lvl1pPr>
            <a:lvl2pPr marL="480060" indent="0" algn="ctr">
              <a:buNone/>
              <a:defRPr sz="2100"/>
            </a:lvl2pPr>
            <a:lvl3pPr marL="960120" indent="0" algn="ctr">
              <a:buNone/>
              <a:defRPr sz="1890"/>
            </a:lvl3pPr>
            <a:lvl4pPr marL="1440180" indent="0" algn="ctr">
              <a:buNone/>
              <a:defRPr sz="1680"/>
            </a:lvl4pPr>
            <a:lvl5pPr marL="1920240" indent="0" algn="ctr">
              <a:buNone/>
              <a:defRPr sz="1680"/>
            </a:lvl5pPr>
            <a:lvl6pPr marL="2400300" indent="0" algn="ctr">
              <a:buNone/>
              <a:defRPr sz="1680"/>
            </a:lvl6pPr>
            <a:lvl7pPr marL="2880360" indent="0" algn="ctr">
              <a:buNone/>
              <a:defRPr sz="1680"/>
            </a:lvl7pPr>
            <a:lvl8pPr marL="3360420" indent="0" algn="ctr">
              <a:buNone/>
              <a:defRPr sz="1680"/>
            </a:lvl8pPr>
            <a:lvl9pPr marL="3840480" indent="0" algn="ctr">
              <a:buNone/>
              <a:defRPr sz="168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544121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478860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5082" y="3191514"/>
            <a:ext cx="8281035" cy="5325109"/>
          </a:xfrm>
        </p:spPr>
        <p:txBody>
          <a:bodyPr anchor="b"/>
          <a:lstStyle>
            <a:lvl1pPr>
              <a:defRPr sz="63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5082" y="8567000"/>
            <a:ext cx="8281035" cy="2800349"/>
          </a:xfrm>
        </p:spPr>
        <p:txBody>
          <a:bodyPr/>
          <a:lstStyle>
            <a:lvl1pPr marL="0" indent="0">
              <a:buNone/>
              <a:defRPr sz="2520">
                <a:solidFill>
                  <a:schemeClr val="tx1"/>
                </a:solidFill>
              </a:defRPr>
            </a:lvl1pPr>
            <a:lvl2pPr marL="480060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120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1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24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30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36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42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480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190743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60083" y="3407833"/>
            <a:ext cx="4080510" cy="81224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860608" y="3407833"/>
            <a:ext cx="4080510" cy="81224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8522209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681570"/>
            <a:ext cx="8281035" cy="247438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1334" y="3138171"/>
            <a:ext cx="4061757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1334" y="4676140"/>
            <a:ext cx="4061757" cy="687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60608" y="3138171"/>
            <a:ext cx="4081761" cy="1537969"/>
          </a:xfrm>
        </p:spPr>
        <p:txBody>
          <a:bodyPr anchor="b"/>
          <a:lstStyle>
            <a:lvl1pPr marL="0" indent="0">
              <a:buNone/>
              <a:defRPr sz="2520" b="1"/>
            </a:lvl1pPr>
            <a:lvl2pPr marL="480060" indent="0">
              <a:buNone/>
              <a:defRPr sz="2100" b="1"/>
            </a:lvl2pPr>
            <a:lvl3pPr marL="960120" indent="0">
              <a:buNone/>
              <a:defRPr sz="1890" b="1"/>
            </a:lvl3pPr>
            <a:lvl4pPr marL="1440180" indent="0">
              <a:buNone/>
              <a:defRPr sz="1680" b="1"/>
            </a:lvl4pPr>
            <a:lvl5pPr marL="1920240" indent="0">
              <a:buNone/>
              <a:defRPr sz="1680" b="1"/>
            </a:lvl5pPr>
            <a:lvl6pPr marL="2400300" indent="0">
              <a:buNone/>
              <a:defRPr sz="1680" b="1"/>
            </a:lvl6pPr>
            <a:lvl7pPr marL="2880360" indent="0">
              <a:buNone/>
              <a:defRPr sz="1680" b="1"/>
            </a:lvl7pPr>
            <a:lvl8pPr marL="3360420" indent="0">
              <a:buNone/>
              <a:defRPr sz="1680" b="1"/>
            </a:lvl8pPr>
            <a:lvl9pPr marL="3840480" indent="0">
              <a:buNone/>
              <a:defRPr sz="168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60608" y="4676140"/>
            <a:ext cx="4081761" cy="687789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07025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7516586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377070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081760" y="1843196"/>
            <a:ext cx="4860608" cy="9097433"/>
          </a:xfrm>
        </p:spPr>
        <p:txBody>
          <a:bodyPr/>
          <a:lstStyle>
            <a:lvl1pPr>
              <a:defRPr sz="3360"/>
            </a:lvl1pPr>
            <a:lvl2pPr>
              <a:defRPr sz="2940"/>
            </a:lvl2pPr>
            <a:lvl3pPr>
              <a:defRPr sz="252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09416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1333" y="853440"/>
            <a:ext cx="3096637" cy="2987040"/>
          </a:xfrm>
        </p:spPr>
        <p:txBody>
          <a:bodyPr anchor="b"/>
          <a:lstStyle>
            <a:lvl1pPr>
              <a:defRPr sz="336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081760" y="1843196"/>
            <a:ext cx="4860608" cy="9097433"/>
          </a:xfrm>
        </p:spPr>
        <p:txBody>
          <a:bodyPr anchor="t"/>
          <a:lstStyle>
            <a:lvl1pPr marL="0" indent="0">
              <a:buNone/>
              <a:defRPr sz="3360"/>
            </a:lvl1pPr>
            <a:lvl2pPr marL="480060" indent="0">
              <a:buNone/>
              <a:defRPr sz="2940"/>
            </a:lvl2pPr>
            <a:lvl3pPr marL="960120" indent="0">
              <a:buNone/>
              <a:defRPr sz="2520"/>
            </a:lvl3pPr>
            <a:lvl4pPr marL="1440180" indent="0">
              <a:buNone/>
              <a:defRPr sz="2100"/>
            </a:lvl4pPr>
            <a:lvl5pPr marL="1920240" indent="0">
              <a:buNone/>
              <a:defRPr sz="2100"/>
            </a:lvl5pPr>
            <a:lvl6pPr marL="2400300" indent="0">
              <a:buNone/>
              <a:defRPr sz="2100"/>
            </a:lvl6pPr>
            <a:lvl7pPr marL="2880360" indent="0">
              <a:buNone/>
              <a:defRPr sz="2100"/>
            </a:lvl7pPr>
            <a:lvl8pPr marL="3360420" indent="0">
              <a:buNone/>
              <a:defRPr sz="2100"/>
            </a:lvl8pPr>
            <a:lvl9pPr marL="3840480" indent="0">
              <a:buNone/>
              <a:defRPr sz="21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1333" y="3840480"/>
            <a:ext cx="3096637" cy="7114964"/>
          </a:xfrm>
        </p:spPr>
        <p:txBody>
          <a:bodyPr/>
          <a:lstStyle>
            <a:lvl1pPr marL="0" indent="0">
              <a:buNone/>
              <a:defRPr sz="1680"/>
            </a:lvl1pPr>
            <a:lvl2pPr marL="480060" indent="0">
              <a:buNone/>
              <a:defRPr sz="1470"/>
            </a:lvl2pPr>
            <a:lvl3pPr marL="960120" indent="0">
              <a:buNone/>
              <a:defRPr sz="1260"/>
            </a:lvl3pPr>
            <a:lvl4pPr marL="1440180" indent="0">
              <a:buNone/>
              <a:defRPr sz="1050"/>
            </a:lvl4pPr>
            <a:lvl5pPr marL="1920240" indent="0">
              <a:buNone/>
              <a:defRPr sz="1050"/>
            </a:lvl5pPr>
            <a:lvl6pPr marL="2400300" indent="0">
              <a:buNone/>
              <a:defRPr sz="1050"/>
            </a:lvl6pPr>
            <a:lvl7pPr marL="2880360" indent="0">
              <a:buNone/>
              <a:defRPr sz="1050"/>
            </a:lvl7pPr>
            <a:lvl8pPr marL="3360420" indent="0">
              <a:buNone/>
              <a:defRPr sz="1050"/>
            </a:lvl8pPr>
            <a:lvl9pPr marL="3840480" indent="0">
              <a:buNone/>
              <a:defRPr sz="105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81156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53237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0859" y="681567"/>
            <a:ext cx="2070259" cy="10848764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60083" y="681567"/>
            <a:ext cx="6090761" cy="10848764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10792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60083" y="681570"/>
            <a:ext cx="8281035" cy="247438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60083" y="3407833"/>
            <a:ext cx="8281035" cy="8122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60083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641A74-98BD-4B3C-827E-E8E43FD96C93}" type="datetimeFigureOut">
              <a:rPr lang="en-GB" smtClean="0"/>
              <a:t>24/11/2025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80398" y="11865189"/>
            <a:ext cx="3240405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780848" y="11865189"/>
            <a:ext cx="2160270" cy="68156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8AA56C-1734-4119-BA56-AE67025E1AD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921374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60120" rtl="0" eaLnBrk="1" latinLnBrk="0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30" indent="-240030" algn="l" defTabSz="960120" rtl="0" eaLnBrk="1" latinLnBrk="0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0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1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2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27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33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39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45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510" indent="-240030" algn="l" defTabSz="96012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0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1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24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30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36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42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480" algn="l" defTabSz="960120" rtl="0" eaLnBrk="1" latinLnBrk="0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able 7">
            <a:extLst>
              <a:ext uri="{FF2B5EF4-FFF2-40B4-BE49-F238E27FC236}">
                <a16:creationId xmlns:a16="http://schemas.microsoft.com/office/drawing/2014/main" id="{FBE95B7C-B010-6D30-1BB3-D0BB181707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20859862"/>
              </p:ext>
            </p:extLst>
          </p:nvPr>
        </p:nvGraphicFramePr>
        <p:xfrm>
          <a:off x="28980" y="7651874"/>
          <a:ext cx="5671843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8983">
                  <a:extLst>
                    <a:ext uri="{9D8B030D-6E8A-4147-A177-3AD203B41FA5}">
                      <a16:colId xmlns:a16="http://schemas.microsoft.com/office/drawing/2014/main" val="1907166431"/>
                    </a:ext>
                  </a:extLst>
                </a:gridCol>
                <a:gridCol w="2142922">
                  <a:extLst>
                    <a:ext uri="{9D8B030D-6E8A-4147-A177-3AD203B41FA5}">
                      <a16:colId xmlns:a16="http://schemas.microsoft.com/office/drawing/2014/main" val="3484362391"/>
                    </a:ext>
                  </a:extLst>
                </a:gridCol>
                <a:gridCol w="1500188">
                  <a:extLst>
                    <a:ext uri="{9D8B030D-6E8A-4147-A177-3AD203B41FA5}">
                      <a16:colId xmlns:a16="http://schemas.microsoft.com/office/drawing/2014/main" val="293066469"/>
                    </a:ext>
                  </a:extLst>
                </a:gridCol>
                <a:gridCol w="1169750">
                  <a:extLst>
                    <a:ext uri="{9D8B030D-6E8A-4147-A177-3AD203B41FA5}">
                      <a16:colId xmlns:a16="http://schemas.microsoft.com/office/drawing/2014/main" val="3260538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r>
                        <a:rPr lang="en-GB" sz="1800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Hyper Parameters Tested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Best Hyper Parameter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/>
                        <a:t>Validation Metric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58663126"/>
                  </a:ext>
                </a:extLst>
              </a:tr>
              <a:tr h="177483">
                <a:tc>
                  <a:txBody>
                    <a:bodyPr/>
                    <a:lstStyle/>
                    <a:p>
                      <a:r>
                        <a:rPr lang="en-US" sz="1200" dirty="0"/>
                        <a:t>Logistic Regression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 = {0.1, 1, 10}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C =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71.4%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1472538"/>
                  </a:ext>
                </a:extLst>
              </a:tr>
              <a:tr h="414127"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Random Forest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n_estimators</a:t>
                      </a:r>
                      <a:r>
                        <a:rPr lang="en-GB" sz="1200" dirty="0"/>
                        <a:t> = {50, 100, 200}</a:t>
                      </a:r>
                    </a:p>
                    <a:p>
                      <a:r>
                        <a:rPr lang="en-GB" sz="1200" dirty="0" err="1"/>
                        <a:t>max_depth</a:t>
                      </a:r>
                      <a:r>
                        <a:rPr lang="en-GB" sz="1200" dirty="0"/>
                        <a:t> = {5, 10, 20, None}</a:t>
                      </a:r>
                    </a:p>
                    <a:p>
                      <a:r>
                        <a:rPr lang="en-GB" sz="1200" dirty="0" err="1"/>
                        <a:t>min_samples_split</a:t>
                      </a:r>
                      <a:r>
                        <a:rPr lang="en-GB" sz="1200" dirty="0"/>
                        <a:t> = {2, 5, 10}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n_estimators</a:t>
                      </a:r>
                      <a:r>
                        <a:rPr lang="en-GB" sz="1200" dirty="0"/>
                        <a:t> = 100</a:t>
                      </a:r>
                    </a:p>
                    <a:p>
                      <a:r>
                        <a:rPr lang="en-GB" sz="1200" dirty="0" err="1"/>
                        <a:t>max_depth</a:t>
                      </a:r>
                      <a:r>
                        <a:rPr lang="en-GB" sz="1200" dirty="0"/>
                        <a:t> = 10</a:t>
                      </a:r>
                    </a:p>
                    <a:p>
                      <a:r>
                        <a:rPr lang="en-GB" sz="1200" dirty="0" err="1"/>
                        <a:t>min_samples_split</a:t>
                      </a:r>
                      <a:r>
                        <a:rPr lang="en-GB" sz="1200" dirty="0"/>
                        <a:t> =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92.2%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80307176"/>
                  </a:ext>
                </a:extLst>
              </a:tr>
              <a:tr h="177483">
                <a:tc>
                  <a:txBody>
                    <a:bodyPr/>
                    <a:lstStyle/>
                    <a:p>
                      <a:pPr marL="0" marR="0" lvl="0" indent="0" algn="l" defTabSz="170691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Neural Network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hidden_layer_sizes</a:t>
                      </a:r>
                      <a:r>
                        <a:rPr lang="en-GB" sz="1200" dirty="0"/>
                        <a:t> = </a:t>
                      </a:r>
                    </a:p>
                    <a:p>
                      <a:r>
                        <a:rPr lang="en-GB" sz="1200" dirty="0"/>
                        <a:t>{(20,), (50,), (100,)}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 err="1"/>
                        <a:t>hidden_layer_sizes</a:t>
                      </a:r>
                      <a:r>
                        <a:rPr lang="en-GB" sz="1200" dirty="0"/>
                        <a:t> = </a:t>
                      </a:r>
                    </a:p>
                    <a:p>
                      <a:r>
                        <a:rPr lang="en-GB" sz="1200" dirty="0"/>
                        <a:t>(50,)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200" dirty="0"/>
                        <a:t>77.9%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4539082"/>
                  </a:ext>
                </a:extLst>
              </a:tr>
            </a:tbl>
          </a:graphicData>
        </a:graphic>
      </p:graphicFrame>
      <p:sp>
        <p:nvSpPr>
          <p:cNvPr id="19" name="TextBox 18">
            <a:extLst>
              <a:ext uri="{FF2B5EF4-FFF2-40B4-BE49-F238E27FC236}">
                <a16:creationId xmlns:a16="http://schemas.microsoft.com/office/drawing/2014/main" id="{05174351-E086-5445-67BE-1B58BCAF877B}"/>
              </a:ext>
            </a:extLst>
          </p:cNvPr>
          <p:cNvSpPr txBox="1"/>
          <p:nvPr/>
        </p:nvSpPr>
        <p:spPr>
          <a:xfrm>
            <a:off x="38762" y="2137191"/>
            <a:ext cx="5537376" cy="1015663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defTabSz="1706867">
              <a:defRPr/>
            </a:pPr>
            <a:r>
              <a:rPr lang="en-GB" sz="1200" b="1" dirty="0"/>
              <a:t>3. Variables/ Data Understanding</a:t>
            </a:r>
          </a:p>
          <a:p>
            <a:pPr defTabSz="1706867">
              <a:defRPr/>
            </a:pPr>
            <a:endParaRPr lang="en-GB" sz="1200" b="1" dirty="0"/>
          </a:p>
          <a:p>
            <a:pPr defTabSz="1706867">
              <a:defRPr/>
            </a:pPr>
            <a:r>
              <a:rPr lang="en-GB" sz="1200" dirty="0">
                <a:solidFill>
                  <a:prstClr val="black"/>
                </a:solidFill>
                <a:ea typeface="Calibri"/>
                <a:cs typeface="Calibri"/>
              </a:rPr>
              <a:t>Month and day are categorical, while the remaining features are numerical. ‘Area’ was converted from F/T to 0/1. A consequence is that categorical variables need encoding, while numerical variables can be used directly in modelling.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2EDFE09-D247-DF9D-DE29-098931551EB8}"/>
              </a:ext>
            </a:extLst>
          </p:cNvPr>
          <p:cNvSpPr txBox="1"/>
          <p:nvPr/>
        </p:nvSpPr>
        <p:spPr>
          <a:xfrm>
            <a:off x="5732206" y="2137190"/>
            <a:ext cx="390684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706867">
              <a:defRPr/>
            </a:pPr>
            <a:r>
              <a:rPr lang="en-GB" sz="1200" b="1" dirty="0">
                <a:solidFill>
                  <a:prstClr val="black"/>
                </a:solidFill>
              </a:rPr>
              <a:t>4. Data Preparation</a:t>
            </a:r>
          </a:p>
          <a:p>
            <a:pPr defTabSz="1706867">
              <a:defRPr/>
            </a:pPr>
            <a:r>
              <a:rPr lang="en-GB" sz="1200" dirty="0">
                <a:solidFill>
                  <a:prstClr val="black"/>
                </a:solidFill>
              </a:rPr>
              <a:t>Used a histogram to detect an outlier in the ‘rain’ variable. A value of 6.4mm was far outside the typical range (0-1.4mm), so I removed observations with rain &gt; 2.0mm. The histograms below show the distribution before and after cleaning.</a:t>
            </a:r>
            <a:endParaRPr lang="en-GB" sz="1200" dirty="0">
              <a:solidFill>
                <a:prstClr val="black"/>
              </a:solidFill>
              <a:ea typeface="Calibri"/>
              <a:cs typeface="Calibri"/>
            </a:endParaRPr>
          </a:p>
        </p:txBody>
      </p:sp>
      <p:pic>
        <p:nvPicPr>
          <p:cNvPr id="24" name="Picture 23" descr="A graph of rain on a white background&#10;&#10;AI-generated content may be incorrect.">
            <a:extLst>
              <a:ext uri="{FF2B5EF4-FFF2-40B4-BE49-F238E27FC236}">
                <a16:creationId xmlns:a16="http://schemas.microsoft.com/office/drawing/2014/main" id="{E62E2A6B-02D3-2CF8-0046-34DD813996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229" y="3266107"/>
            <a:ext cx="2797471" cy="2095764"/>
          </a:xfrm>
          <a:prstGeom prst="rect">
            <a:avLst/>
          </a:prstGeom>
          <a:ln>
            <a:noFill/>
          </a:ln>
        </p:spPr>
      </p:pic>
      <p:pic>
        <p:nvPicPr>
          <p:cNvPr id="26" name="Picture 25" descr="A graph of rain after cleaning&#10;&#10;AI-generated content may be incorrect.">
            <a:extLst>
              <a:ext uri="{FF2B5EF4-FFF2-40B4-BE49-F238E27FC236}">
                <a16:creationId xmlns:a16="http://schemas.microsoft.com/office/drawing/2014/main" id="{68CD2F6F-F84C-1861-8F82-2C8F0F5AB86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27325" y="5434014"/>
            <a:ext cx="2797471" cy="2095763"/>
          </a:xfrm>
          <a:prstGeom prst="rect">
            <a:avLst/>
          </a:prstGeom>
          <a:ln>
            <a:noFill/>
          </a:ln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9807DEFB-4474-186F-892D-D08E4F3D8737}"/>
              </a:ext>
            </a:extLst>
          </p:cNvPr>
          <p:cNvSpPr txBox="1"/>
          <p:nvPr/>
        </p:nvSpPr>
        <p:spPr>
          <a:xfrm>
            <a:off x="38762" y="5916793"/>
            <a:ext cx="569344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prstClr val="black"/>
                </a:solidFill>
              </a:rPr>
              <a:t>5. Model Training and Hyper Parameters</a:t>
            </a:r>
          </a:p>
          <a:p>
            <a:endParaRPr lang="en-GB" sz="1200" b="1" dirty="0">
              <a:solidFill>
                <a:prstClr val="black"/>
              </a:solidFill>
              <a:ea typeface="Calibri"/>
              <a:cs typeface="Calibri"/>
            </a:endParaRPr>
          </a:p>
          <a:p>
            <a:r>
              <a:rPr lang="en-GB" sz="1200" dirty="0">
                <a:solidFill>
                  <a:prstClr val="black"/>
                </a:solidFill>
                <a:cs typeface="Calibri"/>
              </a:rPr>
              <a:t>I chose simple and commonly used hyperparameter values for each model, like different C values, tree sizes, and hidden layer sizes. This gave me a good range to compare without making the search too complicated.</a:t>
            </a:r>
          </a:p>
          <a:p>
            <a:endParaRPr lang="en-GB" sz="1200" dirty="0">
              <a:solidFill>
                <a:prstClr val="black"/>
              </a:solidFill>
              <a:cs typeface="Calibri"/>
            </a:endParaRPr>
          </a:p>
          <a:p>
            <a:r>
              <a:rPr lang="en-GB" sz="1200" dirty="0">
                <a:solidFill>
                  <a:prstClr val="black"/>
                </a:solidFill>
                <a:cs typeface="Calibri"/>
              </a:rPr>
              <a:t>I trained each model on the training set and checked its accuracy on the validation set, changing one hyperparameter at a time. This made it easy to compare results and see which settings worked best.</a:t>
            </a:r>
            <a:endParaRPr lang="en-US" sz="1200" dirty="0"/>
          </a:p>
        </p:txBody>
      </p:sp>
      <p:pic>
        <p:nvPicPr>
          <p:cNvPr id="29" name="Picture 28" descr="A blue squares with white text&#10;&#10;AI-generated content may be incorrect.">
            <a:extLst>
              <a:ext uri="{FF2B5EF4-FFF2-40B4-BE49-F238E27FC236}">
                <a16:creationId xmlns:a16="http://schemas.microsoft.com/office/drawing/2014/main" id="{EC8BC3D0-996F-6378-9162-643B4D26E82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62465" y="8692012"/>
            <a:ext cx="3269388" cy="2760973"/>
          </a:xfrm>
          <a:prstGeom prst="rect">
            <a:avLst/>
          </a:prstGeom>
        </p:spPr>
      </p:pic>
      <p:sp>
        <p:nvSpPr>
          <p:cNvPr id="30" name="TextBox 29">
            <a:extLst>
              <a:ext uri="{FF2B5EF4-FFF2-40B4-BE49-F238E27FC236}">
                <a16:creationId xmlns:a16="http://schemas.microsoft.com/office/drawing/2014/main" id="{8384C63D-080F-8BED-975C-859B98E052C9}"/>
              </a:ext>
            </a:extLst>
          </p:cNvPr>
          <p:cNvSpPr txBox="1"/>
          <p:nvPr/>
        </p:nvSpPr>
        <p:spPr>
          <a:xfrm>
            <a:off x="5809271" y="7683110"/>
            <a:ext cx="37629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>
                <a:solidFill>
                  <a:prstClr val="black"/>
                </a:solidFill>
              </a:rPr>
              <a:t>6. Final Model and Results</a:t>
            </a:r>
            <a:endParaRPr lang="en-US" sz="1200" b="1" dirty="0"/>
          </a:p>
          <a:p>
            <a:r>
              <a:rPr lang="en-US" sz="1200" dirty="0"/>
              <a:t>Random Forest gave the highest validation accuracy, so I selected it as the final model. I retrained it on the full training + validation data and then tested it on the unseen test set.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9B9FE8C9-E700-CFAC-F005-6DA350D938F1}"/>
              </a:ext>
            </a:extLst>
          </p:cNvPr>
          <p:cNvSpPr txBox="1"/>
          <p:nvPr/>
        </p:nvSpPr>
        <p:spPr>
          <a:xfrm>
            <a:off x="-8376" y="10206801"/>
            <a:ext cx="578772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1200" b="1" dirty="0"/>
              <a:t>7. Insight about data </a:t>
            </a:r>
            <a:r>
              <a:rPr lang="en-GB" sz="1200" b="1" dirty="0">
                <a:solidFill>
                  <a:srgbClr val="000000"/>
                </a:solidFill>
                <a:ea typeface="Calibri"/>
                <a:cs typeface="Calibri"/>
              </a:rPr>
              <a:t>or models gained</a:t>
            </a:r>
          </a:p>
          <a:p>
            <a:endParaRPr lang="en-GB" sz="1200" b="1" dirty="0">
              <a:solidFill>
                <a:srgbClr val="000000"/>
              </a:solidFill>
              <a:ea typeface="Calibri"/>
              <a:cs typeface="Calibri"/>
            </a:endParaRP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ea typeface="Calibri"/>
                <a:cs typeface="Calibri"/>
              </a:rPr>
              <a:t>Preprocessing made a clear difference: Encoding and scaling improved model accuracy, especially for Logistic Regression and the Neural Network.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ea typeface="Calibri"/>
                <a:cs typeface="Calibri"/>
              </a:rPr>
              <a:t>Random Forest handled the dataset best, suggesting tree-based models are more suitable for mixed and non-linear forest fire data.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GB" sz="1200" dirty="0">
                <a:solidFill>
                  <a:srgbClr val="000000"/>
                </a:solidFill>
                <a:ea typeface="Calibri"/>
                <a:cs typeface="Calibri"/>
              </a:rPr>
              <a:t>The confusion matrix showed useful performance, but some large fires were still missed, which would be important to address in real-world fire management.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B07EBAD9-C084-5A9A-FD13-ED017E7B9104}"/>
              </a:ext>
            </a:extLst>
          </p:cNvPr>
          <p:cNvSpPr txBox="1"/>
          <p:nvPr/>
        </p:nvSpPr>
        <p:spPr>
          <a:xfrm>
            <a:off x="49160" y="326159"/>
            <a:ext cx="9373136" cy="1754326"/>
          </a:xfrm>
          <a:prstGeom prst="rect">
            <a:avLst/>
          </a:prstGeom>
          <a:ln w="19050"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pPr marL="228600" indent="-228600">
              <a:buFont typeface="+mj-lt"/>
              <a:buAutoNum type="arabicPeriod"/>
            </a:pPr>
            <a:r>
              <a:rPr lang="en-GB" sz="1200" dirty="0"/>
              <a:t>Loaded the raw forest fore dataset and inspected the size and variables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Explored the data using summary statistics and histograms to understand distributions and spot outliers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Cleaned the data by removing an outlier in the ‘rain’ variable (values &gt; 2.0) and converting ’area’ from F/T into 0/1.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Split the data into 70% training, 15% validation, and 15% test, using a stratified split to preserve the class balance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Applied preprocessing: one-hot encoding for month and day, and standard scaling for numeric features (fitted to training set only)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Trained 3 models (Logistic Regression, random Forest, Neural Network) using the training set and tuned hyperparameters based on validation accuracy</a:t>
            </a:r>
          </a:p>
          <a:p>
            <a:pPr marL="228600" indent="-228600">
              <a:buFont typeface="+mj-lt"/>
              <a:buAutoNum type="arabicPeriod"/>
            </a:pPr>
            <a:r>
              <a:rPr lang="en-GB" sz="1200" dirty="0"/>
              <a:t>Selected random Forest as the final model, retrained it on the combined training + validation data, and evaluated it on the test set using accuracy and a confusion matrix.</a:t>
            </a:r>
          </a:p>
        </p:txBody>
      </p:sp>
      <p:graphicFrame>
        <p:nvGraphicFramePr>
          <p:cNvPr id="36" name="Table 35">
            <a:extLst>
              <a:ext uri="{FF2B5EF4-FFF2-40B4-BE49-F238E27FC236}">
                <a16:creationId xmlns:a16="http://schemas.microsoft.com/office/drawing/2014/main" id="{3EA4E260-8251-869E-CB31-E7C2D4DCBE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67582945"/>
              </p:ext>
            </p:extLst>
          </p:nvPr>
        </p:nvGraphicFramePr>
        <p:xfrm>
          <a:off x="49160" y="3131306"/>
          <a:ext cx="5526978" cy="26397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38061">
                  <a:extLst>
                    <a:ext uri="{9D8B030D-6E8A-4147-A177-3AD203B41FA5}">
                      <a16:colId xmlns:a16="http://schemas.microsoft.com/office/drawing/2014/main" val="3944842359"/>
                    </a:ext>
                  </a:extLst>
                </a:gridCol>
                <a:gridCol w="1685163">
                  <a:extLst>
                    <a:ext uri="{9D8B030D-6E8A-4147-A177-3AD203B41FA5}">
                      <a16:colId xmlns:a16="http://schemas.microsoft.com/office/drawing/2014/main" val="4192864132"/>
                    </a:ext>
                  </a:extLst>
                </a:gridCol>
                <a:gridCol w="738061">
                  <a:extLst>
                    <a:ext uri="{9D8B030D-6E8A-4147-A177-3AD203B41FA5}">
                      <a16:colId xmlns:a16="http://schemas.microsoft.com/office/drawing/2014/main" val="4129605304"/>
                    </a:ext>
                  </a:extLst>
                </a:gridCol>
                <a:gridCol w="2365693">
                  <a:extLst>
                    <a:ext uri="{9D8B030D-6E8A-4147-A177-3AD203B41FA5}">
                      <a16:colId xmlns:a16="http://schemas.microsoft.com/office/drawing/2014/main" val="434376880"/>
                    </a:ext>
                  </a:extLst>
                </a:gridCol>
              </a:tblGrid>
              <a:tr h="360689">
                <a:tc>
                  <a:txBody>
                    <a:bodyPr/>
                    <a:lstStyle/>
                    <a:p>
                      <a:r>
                        <a:rPr lang="en-US" sz="1200" dirty="0"/>
                        <a:t>Variable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Type</a:t>
                      </a:r>
                      <a:endParaRPr lang="en-US" sz="105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Variable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Type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5437052"/>
                  </a:ext>
                </a:extLst>
              </a:tr>
              <a:tr h="325575">
                <a:tc>
                  <a:txBody>
                    <a:bodyPr/>
                    <a:lstStyle/>
                    <a:p>
                      <a:r>
                        <a:rPr lang="en-US" sz="1200" dirty="0"/>
                        <a:t>X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Numerical (Discrete)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ISI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Numerical (Continuous)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4213357"/>
                  </a:ext>
                </a:extLst>
              </a:tr>
              <a:tr h="325575">
                <a:tc>
                  <a:txBody>
                    <a:bodyPr/>
                    <a:lstStyle/>
                    <a:p>
                      <a:r>
                        <a:rPr lang="en-US" sz="1200" dirty="0"/>
                        <a:t>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Numerical (Discrete)</a:t>
                      </a:r>
                      <a:endParaRPr lang="en-GB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temp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Numerical (Continuous)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4458889"/>
                  </a:ext>
                </a:extLst>
              </a:tr>
              <a:tr h="325575">
                <a:tc>
                  <a:txBody>
                    <a:bodyPr/>
                    <a:lstStyle/>
                    <a:p>
                      <a:r>
                        <a:rPr lang="en-US" sz="1200" dirty="0"/>
                        <a:t>month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Numerical (Discrete)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42636199"/>
                  </a:ext>
                </a:extLst>
              </a:tr>
              <a:tr h="325575">
                <a:tc>
                  <a:txBody>
                    <a:bodyPr/>
                    <a:lstStyle/>
                    <a:p>
                      <a:r>
                        <a:rPr lang="en-US" sz="1200" dirty="0"/>
                        <a:t>day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Categorical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wind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Numerical (Continuous)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2734627"/>
                  </a:ext>
                </a:extLst>
              </a:tr>
              <a:tr h="325575">
                <a:tc>
                  <a:txBody>
                    <a:bodyPr/>
                    <a:lstStyle/>
                    <a:p>
                      <a:r>
                        <a:rPr lang="en-US" sz="1200" dirty="0"/>
                        <a:t>FFMC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Numerical (Continuous)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Numerical (Continuous)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930023"/>
                  </a:ext>
                </a:extLst>
              </a:tr>
              <a:tr h="325575">
                <a:tc>
                  <a:txBody>
                    <a:bodyPr/>
                    <a:lstStyle/>
                    <a:p>
                      <a:r>
                        <a:rPr lang="en-US" sz="1200" dirty="0"/>
                        <a:t>DMC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Numerical (Continuous)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area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6012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Categorical -&gt; Numerical (Discrete)</a:t>
                      </a:r>
                      <a:endParaRPr lang="en-GB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6127544"/>
                  </a:ext>
                </a:extLst>
              </a:tr>
              <a:tr h="325575">
                <a:tc>
                  <a:txBody>
                    <a:bodyPr/>
                    <a:lstStyle/>
                    <a:p>
                      <a:r>
                        <a:rPr lang="en-US" sz="1200" dirty="0"/>
                        <a:t>DC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Numerical (Continuous)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17159888"/>
                  </a:ext>
                </a:extLst>
              </a:tr>
            </a:tbl>
          </a:graphicData>
        </a:graphic>
      </p:graphicFrame>
      <p:sp>
        <p:nvSpPr>
          <p:cNvPr id="39" name="TextBox 38">
            <a:extLst>
              <a:ext uri="{FF2B5EF4-FFF2-40B4-BE49-F238E27FC236}">
                <a16:creationId xmlns:a16="http://schemas.microsoft.com/office/drawing/2014/main" id="{B3FE1235-C099-3D35-E2CD-ACD9102D423E}"/>
              </a:ext>
            </a:extLst>
          </p:cNvPr>
          <p:cNvSpPr txBox="1"/>
          <p:nvPr/>
        </p:nvSpPr>
        <p:spPr>
          <a:xfrm>
            <a:off x="49160" y="49160"/>
            <a:ext cx="1691810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/>
              <a:t>2. Project Methodology</a:t>
            </a:r>
            <a:endParaRPr lang="en-US" sz="1200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019C05A-A7C8-96B7-BBDD-F8946B6A7911}"/>
              </a:ext>
            </a:extLst>
          </p:cNvPr>
          <p:cNvSpPr txBox="1"/>
          <p:nvPr/>
        </p:nvSpPr>
        <p:spPr>
          <a:xfrm>
            <a:off x="7920740" y="49160"/>
            <a:ext cx="1680460" cy="276999"/>
          </a:xfrm>
          <a:prstGeom prst="rect">
            <a:avLst/>
          </a:prstGeom>
          <a:ln>
            <a:noFill/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sz="1200" b="1" dirty="0"/>
              <a:t>1. Student ID:  </a:t>
            </a:r>
            <a:r>
              <a:rPr lang="en-US" sz="1200" dirty="0"/>
              <a:t>3326080</a:t>
            </a:r>
          </a:p>
        </p:txBody>
      </p: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773E6974-E067-E9FA-AC42-BF82910C8490}"/>
              </a:ext>
            </a:extLst>
          </p:cNvPr>
          <p:cNvCxnSpPr>
            <a:cxnSpLocks/>
          </p:cNvCxnSpPr>
          <p:nvPr/>
        </p:nvCxnSpPr>
        <p:spPr>
          <a:xfrm>
            <a:off x="-9832" y="2138901"/>
            <a:ext cx="9611032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>
            <a:extLst>
              <a:ext uri="{FF2B5EF4-FFF2-40B4-BE49-F238E27FC236}">
                <a16:creationId xmlns:a16="http://schemas.microsoft.com/office/drawing/2014/main" id="{84E65263-1963-536B-2241-774CAF77A148}"/>
              </a:ext>
            </a:extLst>
          </p:cNvPr>
          <p:cNvCxnSpPr/>
          <p:nvPr/>
        </p:nvCxnSpPr>
        <p:spPr>
          <a:xfrm>
            <a:off x="-9832" y="5875228"/>
            <a:ext cx="574203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>
            <a:extLst>
              <a:ext uri="{FF2B5EF4-FFF2-40B4-BE49-F238E27FC236}">
                <a16:creationId xmlns:a16="http://schemas.microsoft.com/office/drawing/2014/main" id="{8B5436B5-9836-2F40-033F-215D87066D82}"/>
              </a:ext>
            </a:extLst>
          </p:cNvPr>
          <p:cNvCxnSpPr>
            <a:cxnSpLocks/>
          </p:cNvCxnSpPr>
          <p:nvPr/>
        </p:nvCxnSpPr>
        <p:spPr>
          <a:xfrm flipH="1" flipV="1">
            <a:off x="5732206" y="2137191"/>
            <a:ext cx="45682" cy="1066440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>
            <a:extLst>
              <a:ext uri="{FF2B5EF4-FFF2-40B4-BE49-F238E27FC236}">
                <a16:creationId xmlns:a16="http://schemas.microsoft.com/office/drawing/2014/main" id="{60C4487F-836F-07B6-E2F4-250E0D3C82E9}"/>
              </a:ext>
            </a:extLst>
          </p:cNvPr>
          <p:cNvCxnSpPr>
            <a:cxnSpLocks/>
          </p:cNvCxnSpPr>
          <p:nvPr/>
        </p:nvCxnSpPr>
        <p:spPr>
          <a:xfrm flipV="1">
            <a:off x="5755047" y="7644252"/>
            <a:ext cx="3855935" cy="25265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Connector 92">
            <a:extLst>
              <a:ext uri="{FF2B5EF4-FFF2-40B4-BE49-F238E27FC236}">
                <a16:creationId xmlns:a16="http://schemas.microsoft.com/office/drawing/2014/main" id="{8DE78387-656E-0E36-F07B-438399396A13}"/>
              </a:ext>
            </a:extLst>
          </p:cNvPr>
          <p:cNvCxnSpPr>
            <a:cxnSpLocks/>
          </p:cNvCxnSpPr>
          <p:nvPr/>
        </p:nvCxnSpPr>
        <p:spPr>
          <a:xfrm flipH="1">
            <a:off x="-307" y="10144042"/>
            <a:ext cx="5755354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" name="TextBox 101">
            <a:extLst>
              <a:ext uri="{FF2B5EF4-FFF2-40B4-BE49-F238E27FC236}">
                <a16:creationId xmlns:a16="http://schemas.microsoft.com/office/drawing/2014/main" id="{3236EE07-2E91-0BF7-8592-D93012DC5E7B}"/>
              </a:ext>
            </a:extLst>
          </p:cNvPr>
          <p:cNvSpPr txBox="1"/>
          <p:nvPr/>
        </p:nvSpPr>
        <p:spPr>
          <a:xfrm>
            <a:off x="5789566" y="11592725"/>
            <a:ext cx="374126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/>
              <a:t>The model performs well at identifying both small and large fires. It makes very few false alarms (2 cases predicted a large fire when there wasn’t) and a moderate number of missed large fires (7 cases). Overall, the model could be used for supporting fire risk decisions, but missed large fires pose a risk and should be considered.</a:t>
            </a:r>
          </a:p>
        </p:txBody>
      </p:sp>
      <p:cxnSp>
        <p:nvCxnSpPr>
          <p:cNvPr id="104" name="Straight Connector 103">
            <a:extLst>
              <a:ext uri="{FF2B5EF4-FFF2-40B4-BE49-F238E27FC236}">
                <a16:creationId xmlns:a16="http://schemas.microsoft.com/office/drawing/2014/main" id="{618CCE1C-08BC-3EC2-2E01-68D3E7456733}"/>
              </a:ext>
            </a:extLst>
          </p:cNvPr>
          <p:cNvCxnSpPr>
            <a:cxnSpLocks/>
          </p:cNvCxnSpPr>
          <p:nvPr/>
        </p:nvCxnSpPr>
        <p:spPr>
          <a:xfrm flipH="1">
            <a:off x="-18193" y="11790862"/>
            <a:ext cx="5791126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5" name="TextBox 104">
            <a:extLst>
              <a:ext uri="{FF2B5EF4-FFF2-40B4-BE49-F238E27FC236}">
                <a16:creationId xmlns:a16="http://schemas.microsoft.com/office/drawing/2014/main" id="{020E3F4D-3C4B-1FBB-8C3D-B376105D37E4}"/>
              </a:ext>
            </a:extLst>
          </p:cNvPr>
          <p:cNvSpPr txBox="1"/>
          <p:nvPr/>
        </p:nvSpPr>
        <p:spPr>
          <a:xfrm>
            <a:off x="28980" y="11817612"/>
            <a:ext cx="4044249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 b="1" dirty="0"/>
              <a:t>8. References</a:t>
            </a:r>
          </a:p>
          <a:p>
            <a:endParaRPr lang="en-GB" sz="1200" b="1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 err="1"/>
              <a:t>Skicit</a:t>
            </a:r>
            <a:r>
              <a:rPr lang="en-US" sz="1200" dirty="0"/>
              <a:t>-learn: Machine Learning Library for Python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Pandas: Data Structures for Statistical Computing in Python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Matplotlib: Plotting 2D Graphics in Python</a:t>
            </a:r>
          </a:p>
        </p:txBody>
      </p:sp>
      <p:cxnSp>
        <p:nvCxnSpPr>
          <p:cNvPr id="111" name="Straight Connector 110">
            <a:extLst>
              <a:ext uri="{FF2B5EF4-FFF2-40B4-BE49-F238E27FC236}">
                <a16:creationId xmlns:a16="http://schemas.microsoft.com/office/drawing/2014/main" id="{99C3BEB9-FE95-1FBC-AB99-7D57A63D8DC0}"/>
              </a:ext>
            </a:extLst>
          </p:cNvPr>
          <p:cNvCxnSpPr/>
          <p:nvPr/>
        </p:nvCxnSpPr>
        <p:spPr>
          <a:xfrm>
            <a:off x="7725964" y="381579"/>
            <a:ext cx="191308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>
            <a:extLst>
              <a:ext uri="{FF2B5EF4-FFF2-40B4-BE49-F238E27FC236}">
                <a16:creationId xmlns:a16="http://schemas.microsoft.com/office/drawing/2014/main" id="{0F82F789-8520-F90D-5CCB-8960E506D4F4}"/>
              </a:ext>
            </a:extLst>
          </p:cNvPr>
          <p:cNvCxnSpPr>
            <a:cxnSpLocks/>
          </p:cNvCxnSpPr>
          <p:nvPr/>
        </p:nvCxnSpPr>
        <p:spPr>
          <a:xfrm flipV="1">
            <a:off x="7725964" y="0"/>
            <a:ext cx="0" cy="38157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987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F1DA950B468274CB53651377B661D5E" ma:contentTypeVersion="4" ma:contentTypeDescription="Create a new document." ma:contentTypeScope="" ma:versionID="27a16cd52dc681f2d631c60625793089">
  <xsd:schema xmlns:xsd="http://www.w3.org/2001/XMLSchema" xmlns:xs="http://www.w3.org/2001/XMLSchema" xmlns:p="http://schemas.microsoft.com/office/2006/metadata/properties" xmlns:ns2="4ce3de0b-3eea-4cb9-8254-1efe69defd32" targetNamespace="http://schemas.microsoft.com/office/2006/metadata/properties" ma:root="true" ma:fieldsID="aa5d8f5ea0382bb42d66b4ec4f495684" ns2:_="">
    <xsd:import namespace="4ce3de0b-3eea-4cb9-8254-1efe69defd32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ce3de0b-3eea-4cb9-8254-1efe69defd3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778572B-7D4E-4A33-82E0-6D91E9A8F67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149E239-D122-40A9-AB11-D677033190C0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3661331-00C7-43C5-9A5A-50F586F6088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ce3de0b-3eea-4cb9-8254-1efe69defd32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>
  <clbl:label id="{d6fa6db5-9f3a-4c93-9e38-61059ee07e95}" enabled="1" method="Standard" siteId="{4e8d09f7-cc79-4ccb-9149-a4238dd17422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12786</TotalTime>
  <Words>744</Words>
  <Application>Microsoft Macintosh PowerPoint</Application>
  <PresentationFormat>A3 Paper (297x420 mm)</PresentationFormat>
  <Paragraphs>84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2013 - 2022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Kevin Swingler</dc:creator>
  <cp:lastModifiedBy>Hashim Zeeshan</cp:lastModifiedBy>
  <cp:revision>71</cp:revision>
  <dcterms:created xsi:type="dcterms:W3CDTF">2022-12-31T18:26:39Z</dcterms:created>
  <dcterms:modified xsi:type="dcterms:W3CDTF">2025-12-01T21:03:56Z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0x0101000F1DA950B468274CB53651377B661D5E</vt:lpwstr>
  </property>
</Properties>
</file>